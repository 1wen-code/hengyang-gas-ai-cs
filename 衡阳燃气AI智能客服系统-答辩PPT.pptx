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111827"/>
                </a:solidFill>
                <a:latin typeface="Microsoft YaHei"/>
              </a:defRPr>
            </a:pPr>
            <a:r>
              <a:t>衡阳燃气 AI 智能客服系统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基于 DeepSeek 的自然语言理解与多轮对话客服平台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228600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答辩人：XXX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指导老师：XXX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专  业：计算机科学与技术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Microsoft YaHei"/>
              </a:defRPr>
            </a:pPr>
            <a:r>
              <a:t>2026 年 7 月</a:t>
            </a:r>
          </a:p>
        </p:txBody>
      </p:sp>
      <p:sp>
        <p:nvSpPr>
          <p:cNvPr id="10" name="Oval 9"/>
          <p:cNvSpPr/>
          <p:nvPr/>
        </p:nvSpPr>
        <p:spPr>
          <a:xfrm>
            <a:off x="8076895" y="1097280"/>
            <a:ext cx="3474720" cy="3474720"/>
          </a:xfrm>
          <a:prstGeom prst="ellipse">
            <a:avLst/>
          </a:prstGeom>
          <a:solidFill>
            <a:srgbClr val="0F4D9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11827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0" y="914400"/>
            <a:ext cx="82296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286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D9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920240"/>
            <a:ext cx="128016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行业痛点与项目目标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280160"/>
            <a:ext cx="3474720" cy="2286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D9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59" y="1920240"/>
            <a:ext cx="128016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技术栈与五层架构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280160"/>
            <a:ext cx="3474720" cy="2286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8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D9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3998" y="1920240"/>
            <a:ext cx="128016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8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8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知识库/检索/意图/风控/对话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3474720" cy="2286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77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D9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4480560"/>
            <a:ext cx="128016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Microsoft YaHei"/>
              </a:defRPr>
            </a:pPr>
            <a:r>
              <a:t>系统测试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功能测试与准确率评估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840480"/>
            <a:ext cx="3474720" cy="2286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3977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D9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59" y="4480560"/>
            <a:ext cx="128016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Microsoft YaHei"/>
              </a:defRPr>
            </a:pPr>
            <a:r>
              <a:t>部署运维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Render云端部署方案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8" y="3840480"/>
            <a:ext cx="3474720" cy="22860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8" y="3977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F4D92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3998" y="4480560"/>
            <a:ext cx="1280160" cy="381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8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Microsoft YaHei"/>
              </a:defRPr>
            </a:pPr>
            <a:r>
              <a:t>总结展望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8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成果与未来方向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01  项目背景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303520" cy="2743200"/>
          </a:xfrm>
          <a:prstGeom prst="rect">
            <a:avLst/>
          </a:prstGeom>
          <a:solidFill>
            <a:srgbClr val="0A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[i] 行业痛点</a:t>
            </a:r>
          </a:p>
        </p:txBody>
      </p:sp>
      <p:sp>
        <p:nvSpPr>
          <p:cNvPr id="6" name="Oval 5"/>
          <p:cNvSpPr/>
          <p:nvPr/>
        </p:nvSpPr>
        <p:spPr>
          <a:xfrm>
            <a:off x="1088136" y="1453896"/>
            <a:ext cx="201168" cy="20116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客服坐席压力大，高峰时段排队严重</a:t>
            </a:r>
          </a:p>
        </p:txBody>
      </p:sp>
      <p:sp>
        <p:nvSpPr>
          <p:cNvPr id="8" name="Oval 7"/>
          <p:cNvSpPr/>
          <p:nvPr/>
        </p:nvSpPr>
        <p:spPr>
          <a:xfrm>
            <a:off x="1088136" y="1837944"/>
            <a:ext cx="201168" cy="20116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470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客服人员流动率 &gt; 30%，培训成本高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" y="2221992"/>
            <a:ext cx="201168" cy="20116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2311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70%+ 重复咨询可自动化</a:t>
            </a:r>
          </a:p>
        </p:txBody>
      </p:sp>
      <p:sp>
        <p:nvSpPr>
          <p:cNvPr id="12" name="Oval 11"/>
          <p:cNvSpPr/>
          <p:nvPr/>
        </p:nvSpPr>
        <p:spPr>
          <a:xfrm>
            <a:off x="1088136" y="2606040"/>
            <a:ext cx="201168" cy="20116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6151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传统FAQ无法理解口语方言</a:t>
            </a:r>
          </a:p>
        </p:txBody>
      </p:sp>
      <p:sp>
        <p:nvSpPr>
          <p:cNvPr id="14" name="Oval 13"/>
          <p:cNvSpPr/>
          <p:nvPr/>
        </p:nvSpPr>
        <p:spPr>
          <a:xfrm>
            <a:off x="1088136" y="2990088"/>
            <a:ext cx="201168" cy="201168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9992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缺乏安全隐患预警能力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005840"/>
            <a:ext cx="5029200" cy="27432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4D92"/>
                </a:solidFill>
                <a:latin typeface="Microsoft YaHei"/>
              </a:defRPr>
            </a:pPr>
            <a:r>
              <a:t>[&gt;] 项目目标</a:t>
            </a:r>
          </a:p>
        </p:txBody>
      </p:sp>
      <p:sp>
        <p:nvSpPr>
          <p:cNvPr id="18" name="Oval 17"/>
          <p:cNvSpPr/>
          <p:nvPr/>
        </p:nvSpPr>
        <p:spPr>
          <a:xfrm>
            <a:off x="6665976" y="1453896"/>
            <a:ext cx="201168" cy="201168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463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基于 LLM 的智能客服核心引擎</a:t>
            </a:r>
          </a:p>
        </p:txBody>
      </p:sp>
      <p:sp>
        <p:nvSpPr>
          <p:cNvPr id="20" name="Oval 19"/>
          <p:cNvSpPr/>
          <p:nvPr/>
        </p:nvSpPr>
        <p:spPr>
          <a:xfrm>
            <a:off x="6665976" y="1837944"/>
            <a:ext cx="201168" cy="201168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84708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8 大类 / 1000+ FAQ 知识库</a:t>
            </a:r>
          </a:p>
        </p:txBody>
      </p:sp>
      <p:sp>
        <p:nvSpPr>
          <p:cNvPr id="22" name="Oval 21"/>
          <p:cNvSpPr/>
          <p:nvPr/>
        </p:nvSpPr>
        <p:spPr>
          <a:xfrm>
            <a:off x="6665976" y="2221992"/>
            <a:ext cx="201168" cy="201168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2311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支持口语化表达与多轮对话</a:t>
            </a:r>
          </a:p>
        </p:txBody>
      </p:sp>
      <p:sp>
        <p:nvSpPr>
          <p:cNvPr id="24" name="Oval 23"/>
          <p:cNvSpPr/>
          <p:nvPr/>
        </p:nvSpPr>
        <p:spPr>
          <a:xfrm>
            <a:off x="6665976" y="2606040"/>
            <a:ext cx="201168" cy="201168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61518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三级风险自动检测与工单</a:t>
            </a:r>
          </a:p>
        </p:txBody>
      </p:sp>
      <p:sp>
        <p:nvSpPr>
          <p:cNvPr id="26" name="Oval 25"/>
          <p:cNvSpPr/>
          <p:nvPr/>
        </p:nvSpPr>
        <p:spPr>
          <a:xfrm>
            <a:off x="6665976" y="2990088"/>
            <a:ext cx="201168" cy="201168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9992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企业级 UI + 高可用部署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114800"/>
            <a:ext cx="34747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114800"/>
            <a:ext cx="3474720" cy="54864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4D92"/>
                </a:solidFill>
                <a:latin typeface="Microsoft YaHei"/>
              </a:defRPr>
            </a:pPr>
            <a:r>
              <a:t>降本增效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替代 60% 重复人工, 7x24h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114800"/>
            <a:ext cx="34747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4114800"/>
            <a:ext cx="3474720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935"/>
                </a:solidFill>
                <a:latin typeface="Microsoft YaHei"/>
              </a:defRPr>
            </a:pPr>
            <a:r>
              <a:t>安全合规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三级风险主动预警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4114800"/>
            <a:ext cx="34747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4114800"/>
            <a:ext cx="3474720" cy="54864"/>
          </a:xfrm>
          <a:prstGeom prst="rect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9E44"/>
                </a:solidFill>
                <a:latin typeface="Microsoft YaHei"/>
              </a:defRPr>
            </a:pPr>
            <a:r>
              <a:t>易于部署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云端一键运维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02  系统架构设计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98480" cy="36308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486400"/>
            <a:ext cx="1737360" cy="54864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5321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Flask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5486400"/>
            <a:ext cx="1737360" cy="54864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55321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DeepSeek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5760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486400"/>
            <a:ext cx="1737360" cy="54864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55321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jieba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760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分词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486400"/>
            <a:ext cx="1737360" cy="54864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5321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Jaccard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760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匹配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5486400"/>
            <a:ext cx="1737360" cy="54864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55321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5760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部署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5486400"/>
            <a:ext cx="1737360" cy="54864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55321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5760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版本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03  核心功能 — 知识库与检索</a:t>
            </a:r>
          </a:p>
        </p:txBody>
      </p:sp>
      <p:pic>
        <p:nvPicPr>
          <p:cNvPr id="4" name="Picture 3" descr="kb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389120" cy="271158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005840"/>
            <a:ext cx="566928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4D92"/>
                </a:solidFill>
                <a:latin typeface="Microsoft YaHei"/>
              </a:defRPr>
            </a:pPr>
            <a:r>
              <a:t>8 大业务标签分类</a:t>
            </a:r>
          </a:p>
        </p:txBody>
      </p:sp>
      <p:sp>
        <p:nvSpPr>
          <p:cNvPr id="7" name="Oval 6"/>
          <p:cNvSpPr/>
          <p:nvPr/>
        </p:nvSpPr>
        <p:spPr>
          <a:xfrm>
            <a:off x="6227064" y="1477264"/>
            <a:ext cx="164592" cy="164592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[1] 开户与安装</a:t>
            </a:r>
          </a:p>
        </p:txBody>
      </p:sp>
      <p:sp>
        <p:nvSpPr>
          <p:cNvPr id="9" name="Oval 8"/>
          <p:cNvSpPr/>
          <p:nvPr/>
        </p:nvSpPr>
        <p:spPr>
          <a:xfrm>
            <a:off x="6227064" y="1788160"/>
            <a:ext cx="164592" cy="164592"/>
          </a:xfrm>
          <a:prstGeom prst="ellipse">
            <a:avLst/>
          </a:prstGeom>
          <a:solidFill>
            <a:srgbClr val="42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196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[2] 燃气费用与账单</a:t>
            </a:r>
          </a:p>
        </p:txBody>
      </p:sp>
      <p:sp>
        <p:nvSpPr>
          <p:cNvPr id="11" name="Oval 10"/>
          <p:cNvSpPr/>
          <p:nvPr/>
        </p:nvSpPr>
        <p:spPr>
          <a:xfrm>
            <a:off x="6227064" y="2099056"/>
            <a:ext cx="164592" cy="16459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30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[3] 燃气使用问题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27064" y="240995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41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[4] 安全与报警</a:t>
            </a:r>
          </a:p>
        </p:txBody>
      </p:sp>
      <p:sp>
        <p:nvSpPr>
          <p:cNvPr id="15" name="Oval 14"/>
          <p:cNvSpPr/>
          <p:nvPr/>
        </p:nvSpPr>
        <p:spPr>
          <a:xfrm>
            <a:off x="6227064" y="2720848"/>
            <a:ext cx="164592" cy="164592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7523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[5] 维修与服务</a:t>
            </a:r>
          </a:p>
        </p:txBody>
      </p:sp>
      <p:sp>
        <p:nvSpPr>
          <p:cNvPr id="17" name="Oval 16"/>
          <p:cNvSpPr/>
          <p:nvPr/>
        </p:nvSpPr>
        <p:spPr>
          <a:xfrm>
            <a:off x="6227064" y="3031744"/>
            <a:ext cx="164592" cy="164592"/>
          </a:xfrm>
          <a:prstGeom prst="ellipse">
            <a:avLst/>
          </a:prstGeom>
          <a:solidFill>
            <a:srgbClr val="7C6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[6] 政策法规</a:t>
            </a:r>
          </a:p>
        </p:txBody>
      </p:sp>
      <p:sp>
        <p:nvSpPr>
          <p:cNvPr id="19" name="Oval 18"/>
          <p:cNvSpPr/>
          <p:nvPr/>
        </p:nvSpPr>
        <p:spPr>
          <a:xfrm>
            <a:off x="6227064" y="3342640"/>
            <a:ext cx="164592" cy="164592"/>
          </a:xfrm>
          <a:prstGeom prst="ellips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3741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[7] 投诉与建议</a:t>
            </a:r>
          </a:p>
        </p:txBody>
      </p:sp>
      <p:sp>
        <p:nvSpPr>
          <p:cNvPr id="21" name="Oval 20"/>
          <p:cNvSpPr/>
          <p:nvPr/>
        </p:nvSpPr>
        <p:spPr>
          <a:xfrm>
            <a:off x="6227064" y="3653536"/>
            <a:ext cx="164592" cy="164592"/>
          </a:xfrm>
          <a:prstGeom prst="ellipse">
            <a:avLst/>
          </a:prstGeom>
          <a:solidFill>
            <a:srgbClr val="27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685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[8] 其他综合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06240"/>
            <a:ext cx="11247120" cy="2103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四层检索引擎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jieba 分词 (燃气行业词典)  &gt;  同义词扩展 (气费/燃气费)  &gt;  Jaccard 相似度 (阈值 0.20)  &gt;  倒排索引 (O(1) 查询)  &gt;  LLM 兜底 (DeepSeek)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匹配策略: FAQ 精确检索 &gt; 意图识别分类 &gt; LLM 兜底生成 &gt; 三级风险检测  |  整体准确率: 96%  |  响应时间 &lt; 3s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03  核心功能 — 意图识别与风险检测</a:t>
            </a:r>
          </a:p>
        </p:txBody>
      </p:sp>
      <p:pic>
        <p:nvPicPr>
          <p:cNvPr id="4" name="Picture 3" descr="inten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072885" cy="4389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914400"/>
            <a:ext cx="512064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005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4D92"/>
                </a:solidFill>
                <a:latin typeface="Microsoft YaHei"/>
              </a:defRPr>
            </a:pPr>
            <a:r>
              <a:t>两级意图识别架构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417320"/>
            <a:ext cx="54864" cy="41148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468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4D92"/>
                </a:solidFill>
                <a:latin typeface="Microsoft YaHei"/>
              </a:defRPr>
            </a:pPr>
            <a:r>
              <a:t>规则引擎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468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关键词+正则, 500ms 内响应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920240"/>
            <a:ext cx="54864" cy="411480"/>
          </a:xfrm>
          <a:prstGeom prst="rect">
            <a:avLst/>
          </a:prstGeom>
          <a:solidFill>
            <a:srgbClr val="42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971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2949E"/>
                </a:solidFill>
                <a:latin typeface="Microsoft YaHei"/>
              </a:defRPr>
            </a:pPr>
            <a:r>
              <a:t>LLM 深度理解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71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DeepSeek 处理口语/方言/长句输入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输出: 真实意图 + 标准业务问题 + 10 类分类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383280"/>
            <a:ext cx="5120640" cy="1920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474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YaHei"/>
              </a:defRPr>
            </a:pPr>
            <a:r>
              <a:t>三级风险检测</a:t>
            </a:r>
          </a:p>
        </p:txBody>
      </p:sp>
      <p:sp>
        <p:nvSpPr>
          <p:cNvPr id="16" name="Oval 15"/>
          <p:cNvSpPr/>
          <p:nvPr/>
        </p:nvSpPr>
        <p:spPr>
          <a:xfrm>
            <a:off x="6867144" y="3808984"/>
            <a:ext cx="164592" cy="164592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84048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9E44"/>
                </a:solidFill>
                <a:latin typeface="Microsoft YaHei"/>
              </a:defRPr>
            </a:pPr>
            <a:r>
              <a:t>普通级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404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常规咨询 -&gt; 标准回复, 无告警</a:t>
            </a:r>
          </a:p>
        </p:txBody>
      </p:sp>
      <p:sp>
        <p:nvSpPr>
          <p:cNvPr id="19" name="Oval 18"/>
          <p:cNvSpPr/>
          <p:nvPr/>
        </p:nvSpPr>
        <p:spPr>
          <a:xfrm>
            <a:off x="6867144" y="4193032"/>
            <a:ext cx="164592" cy="16459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2245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7E22"/>
                </a:solidFill>
                <a:latin typeface="Microsoft YaHei"/>
              </a:defRPr>
            </a:pPr>
            <a:r>
              <a:t>疑似级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245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投诉/退款/情绪 -&gt; 安抚话术 + 标记关注</a:t>
            </a:r>
          </a:p>
        </p:txBody>
      </p:sp>
      <p:sp>
        <p:nvSpPr>
          <p:cNvPr id="22" name="Oval 21"/>
          <p:cNvSpPr/>
          <p:nvPr/>
        </p:nvSpPr>
        <p:spPr>
          <a:xfrm>
            <a:off x="6867144" y="4577080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085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935"/>
                </a:solidFill>
                <a:latin typeface="Microsoft YaHei"/>
              </a:defRPr>
            </a:pPr>
            <a:r>
              <a:t>高危级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085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泄漏/爆炸/火灾 -&gt; 紧急工单 + 转人工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03  核心功能 — 风险检测与多轮对话</a:t>
            </a:r>
          </a:p>
        </p:txBody>
      </p:sp>
      <p:pic>
        <p:nvPicPr>
          <p:cNvPr id="4" name="Picture 3" descr="risk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217920" cy="27022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005840"/>
            <a:ext cx="48463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097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949E"/>
                </a:solidFill>
                <a:latin typeface="Microsoft YaHei"/>
              </a:defRPr>
            </a:pPr>
            <a:r>
              <a:t>对话上下文管理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Microsoft YaHei"/>
              </a:defRPr>
            </a:pPr>
            <a:r>
              <a:t>  Session 级持久化 (dict 存储)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Microsoft YaHei"/>
              </a:defRPr>
            </a:pPr>
            <a:r>
              <a:t>  话题追踪: 分类+子类型+已答FAQ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Microsoft YaHei"/>
              </a:defRPr>
            </a:pPr>
            <a:r>
              <a:t>  保持最近 3 轮对话</a:t>
            </a:r>
          </a:p>
          <a:p>
            <a:pPr>
              <a:spcBef>
                <a:spcPts val="300"/>
              </a:spcBef>
              <a:defRPr sz="1100">
                <a:solidFill>
                  <a:srgbClr val="6B7280"/>
                </a:solidFill>
                <a:latin typeface="Microsoft YaHei"/>
              </a:defRPr>
            </a:pPr>
            <a:r>
              <a:t>  跨轮指代消解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1124712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949E"/>
                </a:solidFill>
                <a:latin typeface="Microsoft YaHei"/>
              </a:defRPr>
            </a:pPr>
            <a:r>
              <a:t>7 类追问子类型 + 去重机制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34840"/>
            <a:ext cx="256032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320" y="44729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949E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320" y="46451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何时处理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4434840"/>
            <a:ext cx="256032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520" y="44729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949E"/>
                </a:solidFill>
                <a:latin typeface="Microsoft YaHei"/>
              </a:defRPr>
            </a:pPr>
            <a:r>
              <a:t>费用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5520" y="46451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收费标准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34840"/>
            <a:ext cx="256032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8720" y="44729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949E"/>
                </a:solidFill>
                <a:latin typeface="Microsoft YaHei"/>
              </a:defRPr>
            </a:pPr>
            <a:r>
              <a:t>材料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8720" y="46451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所需材料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434840"/>
            <a:ext cx="256032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11920" y="44729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949E"/>
                </a:solidFill>
                <a:latin typeface="Microsoft YaHei"/>
              </a:defRPr>
            </a:pPr>
            <a:r>
              <a:t>地点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1920" y="46451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去哪办理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256032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320" y="49758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949E"/>
                </a:solidFill>
                <a:latin typeface="Microsoft YaHei"/>
              </a:defRPr>
            </a:pPr>
            <a:r>
              <a:t>电话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320" y="51480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联系方式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937760"/>
            <a:ext cx="256032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5520" y="49758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949E"/>
                </a:solidFill>
                <a:latin typeface="Microsoft YaHei"/>
              </a:defRPr>
            </a:pPr>
            <a:r>
              <a:t>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5520" y="51480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操作步骤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937760"/>
            <a:ext cx="2560320" cy="411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8720" y="49758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2949E"/>
                </a:solidFill>
                <a:latin typeface="Microsoft YaHei"/>
              </a:defRPr>
            </a:pPr>
            <a:r>
              <a:t>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8720" y="51480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申请条件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去重: 已答FAQ自动过滤 / 子类型引导匹配 / 话题切换重置 / 递归追问 (时间&gt;费用&gt;材料...)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指标: 多轮对话覆盖率 92%  |  追问识别准确率 88%  |  去重有效率 95%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04  系统测试与评估</a:t>
            </a:r>
          </a:p>
        </p:txBody>
      </p:sp>
      <p:pic>
        <p:nvPicPr>
          <p:cNvPr id="4" name="Picture 3" descr="test_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283806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005840"/>
            <a:ext cx="64008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40680" y="1031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4D92"/>
                </a:solidFill>
                <a:latin typeface="Microsoft YaHei"/>
              </a:defRPr>
            </a:pPr>
            <a:r>
              <a:t>96%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082040"/>
            <a:ext cx="457200" cy="254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082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FAQ准确率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600200"/>
            <a:ext cx="64008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625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9E44"/>
                </a:solidFill>
                <a:latin typeface="Microsoft YaHei"/>
              </a:defRPr>
            </a:pPr>
            <a:r>
              <a:t>98%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76400"/>
            <a:ext cx="457200" cy="25400"/>
          </a:xfrm>
          <a:prstGeom prst="rect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676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风险检测率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194560"/>
            <a:ext cx="64008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2219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949E"/>
                </a:solidFill>
                <a:latin typeface="Microsoft YaHei"/>
              </a:defRPr>
            </a:pPr>
            <a:r>
              <a:t>&lt;3s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270760"/>
            <a:ext cx="457200" cy="25400"/>
          </a:xfrm>
          <a:prstGeom prst="rect">
            <a:avLst/>
          </a:prstGeom>
          <a:solidFill>
            <a:srgbClr val="42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2707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响应时间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788920"/>
            <a:ext cx="640080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814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935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865120"/>
            <a:ext cx="4572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865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高危零漏报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1124712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4D92"/>
                </a:solidFill>
                <a:latin typeface="Microsoft YaHei"/>
              </a:defRPr>
            </a:pPr>
            <a:r>
              <a:t>测试覆盖范围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" y="4445508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805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功能测试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48056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FAQ检索 | 意图识别 | 风险检测 | 工单生成 | 多轮对话 | 情绪识别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26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53935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892040"/>
            <a:ext cx="9144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9560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高危零漏报</a:t>
            </a:r>
          </a:p>
        </p:txBody>
      </p:sp>
      <p:sp>
        <p:nvSpPr>
          <p:cNvPr id="29" name="Oval 28"/>
          <p:cNvSpPr/>
          <p:nvPr/>
        </p:nvSpPr>
        <p:spPr>
          <a:xfrm>
            <a:off x="749808" y="4829556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86460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集成测试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864608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全链路对话流程 | AI+规则双引擎 | 追问去重 | 话题切换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03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53935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5276088"/>
            <a:ext cx="9144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34009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高危零漏报</a:t>
            </a:r>
          </a:p>
        </p:txBody>
      </p:sp>
      <p:sp>
        <p:nvSpPr>
          <p:cNvPr id="35" name="Oval 34"/>
          <p:cNvSpPr/>
          <p:nvPr/>
        </p:nvSpPr>
        <p:spPr>
          <a:xfrm>
            <a:off x="749808" y="5213604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2486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兼容性测试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5248656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Chrome/Edge/Firefox | PC+手机端 | 亮暗双主题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2943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53935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660136"/>
            <a:ext cx="9144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57241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高危零漏报</a:t>
            </a:r>
          </a:p>
        </p:txBody>
      </p:sp>
      <p:sp>
        <p:nvSpPr>
          <p:cNvPr id="41" name="Oval 40"/>
          <p:cNvSpPr/>
          <p:nvPr/>
        </p:nvSpPr>
        <p:spPr>
          <a:xfrm>
            <a:off x="749808" y="5597652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63270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压力测试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5632704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并发会话处理 | 批量检索 | LLM超时重试 | 边界输入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6784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53935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6044184"/>
            <a:ext cx="914400" cy="25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61081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高危零漏报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840480"/>
            <a:ext cx="11247120" cy="2560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4D92"/>
                </a:solidFill>
                <a:latin typeface="Microsoft YaHei"/>
              </a:defRPr>
            </a:pPr>
            <a:r>
              <a:t>测试覆盖范围</a:t>
            </a:r>
          </a:p>
        </p:txBody>
      </p:sp>
      <p:sp>
        <p:nvSpPr>
          <p:cNvPr id="49" name="Oval 48"/>
          <p:cNvSpPr/>
          <p:nvPr/>
        </p:nvSpPr>
        <p:spPr>
          <a:xfrm>
            <a:off x="749808" y="4262628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42976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功能测试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429768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FAQ检索 | 意图识别 | 风险检测 | 工单生成 | 多轮对话 | 情绪识别</a:t>
            </a:r>
          </a:p>
        </p:txBody>
      </p:sp>
      <p:sp>
        <p:nvSpPr>
          <p:cNvPr id="52" name="Oval 51"/>
          <p:cNvSpPr/>
          <p:nvPr/>
        </p:nvSpPr>
        <p:spPr>
          <a:xfrm>
            <a:off x="749808" y="4674108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5840" y="4709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集成测试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94560" y="470916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全链路对话流程 | AI+规则双引擎 | 追问去重 | 话题切换</a:t>
            </a:r>
          </a:p>
        </p:txBody>
      </p:sp>
      <p:sp>
        <p:nvSpPr>
          <p:cNvPr id="55" name="Oval 54"/>
          <p:cNvSpPr/>
          <p:nvPr/>
        </p:nvSpPr>
        <p:spPr>
          <a:xfrm>
            <a:off x="749808" y="5085588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1206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兼容性测试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94560" y="512064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Chrome/Edge/Firefox | PC+手机端 | 亮暗双主题</a:t>
            </a:r>
          </a:p>
        </p:txBody>
      </p:sp>
      <p:sp>
        <p:nvSpPr>
          <p:cNvPr id="58" name="Oval 57"/>
          <p:cNvSpPr/>
          <p:nvPr/>
        </p:nvSpPr>
        <p:spPr>
          <a:xfrm>
            <a:off x="749808" y="5497068"/>
            <a:ext cx="146304" cy="146304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" y="55321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压力测试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94560" y="5532120"/>
            <a:ext cx="8961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并发会话处理 | 批量检索 | LLM超时重试 | 边界输入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05  部署架构与运维方案</a:t>
            </a:r>
          </a:p>
        </p:txBody>
      </p:sp>
      <p:pic>
        <p:nvPicPr>
          <p:cNvPr id="4" name="Picture 3" descr="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9418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Microsoft YaHei"/>
              </a:defRPr>
            </a:pPr>
            <a:r>
              <a:t>自动化运维</a:t>
            </a:r>
          </a:p>
        </p:txBody>
      </p:sp>
      <p:sp>
        <p:nvSpPr>
          <p:cNvPr id="6" name="Oval 5"/>
          <p:cNvSpPr/>
          <p:nvPr/>
        </p:nvSpPr>
        <p:spPr>
          <a:xfrm>
            <a:off x="832104" y="3521964"/>
            <a:ext cx="164592" cy="164592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环境配置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56616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Python 3.13 + Flask + Gunicorn  |  环境变量管理 API Key</a:t>
            </a:r>
          </a:p>
        </p:txBody>
      </p:sp>
      <p:sp>
        <p:nvSpPr>
          <p:cNvPr id="9" name="Oval 8"/>
          <p:cNvSpPr/>
          <p:nvPr/>
        </p:nvSpPr>
        <p:spPr>
          <a:xfrm>
            <a:off x="832104" y="3933443"/>
            <a:ext cx="164592" cy="164592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更新流程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977639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本地修改 &gt; git commit/push &gt; Render 自动部署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" y="4344924"/>
            <a:ext cx="164592" cy="164592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891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日志监控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38912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应用日志 + 访问日志  |  异常实时告警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" y="4756404"/>
            <a:ext cx="164592" cy="164592"/>
          </a:xfrm>
          <a:prstGeom prst="ellipse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4D92"/>
                </a:solidFill>
                <a:latin typeface="Microsoft YaHei"/>
              </a:defRPr>
            </a:pPr>
            <a:r>
              <a:t>数据备份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80060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CSV 知识库独立备份  |  GitHub 代码托管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5394960"/>
            <a:ext cx="6675120" cy="54864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541324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hengyang-gas-ai-cs.onrender.com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827"/>
                </a:solidFill>
                <a:latin typeface="Microsoft YaHei"/>
              </a:defRPr>
            </a:pPr>
            <a:r>
              <a:t>06  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00" cy="5029200"/>
          </a:xfrm>
          <a:prstGeom prst="rect">
            <a:avLst/>
          </a:prstGeom>
          <a:solidFill>
            <a:srgbClr val="0A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[+] 项目成果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5392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建成 1,009 条 FAQ + 72 条法规的燃气知识库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9964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实现 8 大类标签 + 5 级法规分类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4536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四层检索引擎: jieba/同义词/Jaccard/倒排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9108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9 种用户意图精准识别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3680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三级风险检测 + 自动工单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8252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DeepSeek LLM 深度语义理解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2824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多轮对话 + 7 类追问去重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4739640"/>
            <a:ext cx="182880" cy="182880"/>
          </a:xfrm>
          <a:prstGeom prst="ellipse">
            <a:avLst/>
          </a:prstGeom>
          <a:solidFill>
            <a:srgbClr val="2E9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企业级 UI + 管理后台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005840"/>
            <a:ext cx="4846320" cy="5029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097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4D92"/>
                </a:solidFill>
                <a:latin typeface="Microsoft YaHei"/>
              </a:defRPr>
            </a:pPr>
            <a:r>
              <a:t>[&gt;] 未来展望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554480"/>
            <a:ext cx="4389120" cy="54864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6052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[1] 语音输入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81051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集成 ASR 语音识别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194560"/>
            <a:ext cx="4389120" cy="54864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2453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[2] 数据分析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45059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对话数据挖掘与热点分析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834639"/>
            <a:ext cx="4389120" cy="54864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885439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[3] 主动推送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90671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安全提醒/缴费通知主动触达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474720"/>
            <a:ext cx="4389120" cy="54864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52552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[4] 业务对接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73075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与 CRM/工单系统深度集成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114800"/>
            <a:ext cx="4389120" cy="54864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16560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4D92"/>
                </a:solidFill>
                <a:latin typeface="Microsoft YaHei"/>
              </a:defRPr>
            </a:pPr>
            <a:r>
              <a:t>[5] 多模态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37083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图片识别: 表盘读数/现场照片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1447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827"/>
                </a:solidFill>
                <a:latin typeface="Microsoft YaHei"/>
              </a:defRPr>
            </a:pPr>
            <a:r>
              <a:t>Data: 1009 FAQ | 72 法规 | 8 标签 | 9 意图 | 3 级风险 | 96% 准确率 | 7x24h 在线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11827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291840"/>
            <a:ext cx="1554480" cy="50800"/>
          </a:xfrm>
          <a:prstGeom prst="rect">
            <a:avLst/>
          </a:prstGeom>
          <a:solidFill>
            <a:srgbClr val="0F4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欢迎各位老师提问指导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029200"/>
            <a:ext cx="6675120" cy="91440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512064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11827"/>
                </a:solidFill>
                <a:latin typeface="Microsoft YaHei"/>
              </a:defRPr>
            </a:pPr>
            <a:r>
              <a:t>github.com/1wen-code/hengyang-gas-ai-cs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44068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4D92"/>
                </a:solidFill>
                <a:latin typeface="Microsoft YaHei"/>
              </a:defRPr>
            </a:pPr>
            <a:r>
              <a:t>hengyang-gas-ai-cs.onrender.com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